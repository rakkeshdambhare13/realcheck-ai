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9" r:id="rId5"/>
    <p:sldId id="272" r:id="rId6"/>
    <p:sldId id="271" r:id="rId7"/>
    <p:sldId id="270" r:id="rId8"/>
    <p:sldId id="268" r:id="rId9"/>
    <p:sldId id="275" r:id="rId10"/>
    <p:sldId id="266" r:id="rId11"/>
    <p:sldId id="265" r:id="rId12"/>
    <p:sldId id="264" r:id="rId13"/>
    <p:sldId id="263" r:id="rId14"/>
    <p:sldId id="262" r:id="rId15"/>
    <p:sldId id="261" r:id="rId16"/>
    <p:sldId id="260" r:id="rId17"/>
    <p:sldId id="259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61" autoAdjust="0"/>
    <p:restoredTop sz="94641" autoAdjust="0"/>
  </p:normalViewPr>
  <p:slideViewPr>
    <p:cSldViewPr snapToGrid="0">
      <p:cViewPr>
        <p:scale>
          <a:sx n="75" d="100"/>
          <a:sy n="75" d="100"/>
        </p:scale>
        <p:origin x="1224" y="12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78C52-5038-B6BA-EF32-E8DCAB85AD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DA319A-D333-C226-C81E-946F467CE5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DD5C5F-D8A5-BC10-B49E-EE47757E1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9DD65-0530-4FBE-BCF7-93CCC02F5522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A71AE0-F5E3-96DD-B916-F29A0731D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5FA47A-CED0-BBA3-7B1B-CA0B1B635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C4059-34F3-41FF-B4CE-49DEB6CED8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4924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00F36-E29B-C9ED-0D95-04BD34544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9DCE8C-EDCD-3CE3-D29A-01085F2E18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9A61B3-9F72-A476-F2BD-979177DA2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9DD65-0530-4FBE-BCF7-93CCC02F5522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6696E4-DA3E-9D4B-88AB-8223A6932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EB53A-8E77-C167-7F38-CB7D8C4BC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C4059-34F3-41FF-B4CE-49DEB6CED8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4576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D3DD8-6E37-4FB2-21F9-36CC71A8C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B575ED-1375-5D0B-5583-F1CFDBF621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CE9123-CF15-5782-C304-816738894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9DD65-0530-4FBE-BCF7-93CCC02F5522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44541E-66D9-977A-1762-8C156507C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25EDD9-59E4-25BC-96F5-2F6BF448D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C4059-34F3-41FF-B4CE-49DEB6CED8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1822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412A2-3F12-A145-3911-3ACADEDAA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B8C33E-C140-990A-A80A-9B511CB692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3F17D0-68B6-D239-A404-32F58BE71F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03E546-0A62-3D0F-E5D2-FA76E8711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9DD65-0530-4FBE-BCF7-93CCC02F5522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D1ED23-2945-9C04-E1EC-34F6E3C96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F8B226-84DA-FBF3-A53C-0F795B33E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C4059-34F3-41FF-B4CE-49DEB6CED8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9556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2B0F8-9048-ED62-792C-C1E1EACA7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4C1EA8-E65D-561D-C12F-88C6D45143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0231EC-2D8B-E176-0535-141630A9DD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D1542D-808A-4D51-FB41-757A203E78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E1BF31-06E4-82CC-F56C-3E5A121FD1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2C50FC-012C-48DF-9FA8-2BB2F448A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9DD65-0530-4FBE-BCF7-93CCC02F5522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45E6E0-6D16-5A4F-7069-30D8F5382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319A29-9CC4-7917-8454-A009254EB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C4059-34F3-41FF-B4CE-49DEB6CED8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92957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14605-B22D-3CCC-483F-02CD44CD0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76C585-611B-1CB4-1456-C7535AE1F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9DD65-0530-4FBE-BCF7-93CCC02F5522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5A074A-B4E3-DE73-60A5-64AAA7959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1B0C01-17B3-A9A4-7542-437C058F0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C4059-34F3-41FF-B4CE-49DEB6CED8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3256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43C76E-AC66-4C1A-70AE-EA27D5E89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9DD65-0530-4FBE-BCF7-93CCC02F5522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167C82-A43B-F966-C881-B42D64033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5872C1-64AF-564F-ECCA-5CCB3FA91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C4059-34F3-41FF-B4CE-49DEB6CED8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0450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6C467-C930-7D3A-9BB4-FAE298207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31F839-88A7-E0D7-5F76-E40AA0C9B1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090B0D-6C3D-C666-F607-ABF83E52BB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92C5A0-0129-7C12-F572-C47E3C8F0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9DD65-0530-4FBE-BCF7-93CCC02F5522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03D4CB-18C9-4F64-26C6-BDBEE5312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1FB64E-BFF4-AA45-55C2-FF27DE801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C4059-34F3-41FF-B4CE-49DEB6CED8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8791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7BACE-3E05-AD50-F5EB-571F8464F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55FEF3-0B7E-C3B5-3104-C7CCA3E57D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2EDE5C-0358-E6A1-89CF-89F9713BBF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A70DED-F4F4-F5AC-72F4-188B9EB83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9DD65-0530-4FBE-BCF7-93CCC02F5522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EDB5BB-81CF-6476-19A1-2400BF334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9E710D-30B4-6F9B-A2EE-7607EF8D0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C4059-34F3-41FF-B4CE-49DEB6CED8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2466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3FB69-A691-F115-08FB-B96F6967E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9A9B8E-5720-5B19-83CA-86A7B5D8CB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DB28F7-0C37-925A-C9E2-3129B0A89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9DD65-0530-4FBE-BCF7-93CCC02F5522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F18F8E-86CC-89C1-E199-50E3F151B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EFD621-BFFF-682E-0A44-98764021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C4059-34F3-41FF-B4CE-49DEB6CED8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6582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C6889A-DA97-85CF-B6F6-9525DA45EA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0B63E6-462D-487D-D762-8120E563F9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6C146F-BFDB-C588-3C32-3186D987C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9DD65-0530-4FBE-BCF7-93CCC02F5522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A9A41C-C960-4C1D-065D-A4C61DFF3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E53A4F-162B-6DE1-9C39-9B2A11892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C4059-34F3-41FF-B4CE-49DEB6CED8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24674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37E193-8B59-2FF9-6868-C2A7BE3F4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EE916B-D98F-2C97-D370-C6BF4EA0F9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317AC9-CE3D-A797-6123-8E20413585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B9DD65-0530-4FBE-BCF7-93CCC02F5522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835179-D0A0-9548-F69A-6DBD974851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DAF03E-860D-BC74-BD92-339CD72CBC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0C4059-34F3-41FF-B4CE-49DEB6CED8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7100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320B443-79A2-148F-64EA-F85340FF28CD}"/>
              </a:ext>
            </a:extLst>
          </p:cNvPr>
          <p:cNvSpPr txBox="1"/>
          <p:nvPr/>
        </p:nvSpPr>
        <p:spPr>
          <a:xfrm>
            <a:off x="2971800" y="2676525"/>
            <a:ext cx="656408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200" b="1" dirty="0">
                <a:latin typeface="Cambria" panose="02040503050406030204" pitchFamily="18" charset="0"/>
                <a:ea typeface="Cambria" panose="02040503050406030204" pitchFamily="18" charset="0"/>
              </a:rPr>
              <a:t>Project Seminar On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767FDA-68C9-7940-CA40-E979AAA9D7FA}"/>
              </a:ext>
            </a:extLst>
          </p:cNvPr>
          <p:cNvSpPr txBox="1"/>
          <p:nvPr/>
        </p:nvSpPr>
        <p:spPr>
          <a:xfrm>
            <a:off x="1713710" y="2953524"/>
            <a:ext cx="908026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“</a:t>
            </a:r>
            <a:r>
              <a:rPr lang="en-US" sz="2800" b="1" dirty="0" err="1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Realcheck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Ai: Multimodal AI-Based Fake Media Detection and Prediction System”</a:t>
            </a:r>
            <a:endParaRPr lang="en-IN" sz="2800" b="1" dirty="0">
              <a:solidFill>
                <a:schemeClr val="accent1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C265A6-747A-1D44-38E4-D8DFFBB22ED0}"/>
              </a:ext>
            </a:extLst>
          </p:cNvPr>
          <p:cNvSpPr txBox="1"/>
          <p:nvPr/>
        </p:nvSpPr>
        <p:spPr>
          <a:xfrm>
            <a:off x="5323114" y="3781366"/>
            <a:ext cx="194854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15CC77-CA35-2903-1CA8-D1A7DE974E80}"/>
              </a:ext>
            </a:extLst>
          </p:cNvPr>
          <p:cNvSpPr txBox="1"/>
          <p:nvPr/>
        </p:nvSpPr>
        <p:spPr>
          <a:xfrm>
            <a:off x="2296886" y="4212253"/>
            <a:ext cx="795745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latin typeface="Cambria" panose="02040503050406030204" pitchFamily="18" charset="0"/>
                <a:ea typeface="Cambria" panose="02040503050406030204" pitchFamily="18" charset="0"/>
              </a:rPr>
              <a:t>Rakesh </a:t>
            </a:r>
            <a:r>
              <a:rPr lang="en-US" sz="2200" b="1" dirty="0" err="1">
                <a:latin typeface="Cambria" panose="02040503050406030204" pitchFamily="18" charset="0"/>
                <a:ea typeface="Cambria" panose="02040503050406030204" pitchFamily="18" charset="0"/>
              </a:rPr>
              <a:t>Dambhare</a:t>
            </a:r>
            <a:r>
              <a:rPr lang="en-US" sz="2200" b="1" dirty="0">
                <a:latin typeface="Cambria" panose="02040503050406030204" pitchFamily="18" charset="0"/>
                <a:ea typeface="Cambria" panose="02040503050406030204" pitchFamily="18" charset="0"/>
              </a:rPr>
              <a:t>                                         Bhavesh Verma</a:t>
            </a:r>
          </a:p>
          <a:p>
            <a:r>
              <a:rPr lang="en-US" sz="2200" b="1" dirty="0">
                <a:latin typeface="Cambria" panose="02040503050406030204" pitchFamily="18" charset="0"/>
                <a:ea typeface="Cambria" panose="02040503050406030204" pitchFamily="18" charset="0"/>
              </a:rPr>
              <a:t>Bhavik </a:t>
            </a:r>
            <a:r>
              <a:rPr lang="en-US" sz="2200" b="1" dirty="0" err="1">
                <a:latin typeface="Cambria" panose="02040503050406030204" pitchFamily="18" charset="0"/>
                <a:ea typeface="Cambria" panose="02040503050406030204" pitchFamily="18" charset="0"/>
              </a:rPr>
              <a:t>Marbade</a:t>
            </a:r>
            <a:r>
              <a:rPr lang="en-US" sz="2200" b="1" dirty="0">
                <a:latin typeface="Cambria" panose="02040503050406030204" pitchFamily="18" charset="0"/>
                <a:ea typeface="Cambria" panose="02040503050406030204" pitchFamily="18" charset="0"/>
              </a:rPr>
              <a:t>                                             Ansh </a:t>
            </a:r>
            <a:r>
              <a:rPr lang="en-US" sz="2200" b="1" dirty="0" err="1">
                <a:latin typeface="Cambria" panose="02040503050406030204" pitchFamily="18" charset="0"/>
                <a:ea typeface="Cambria" panose="02040503050406030204" pitchFamily="18" charset="0"/>
              </a:rPr>
              <a:t>Banewar</a:t>
            </a:r>
            <a:endParaRPr lang="en-US" sz="2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DFEC29D-94DD-29BD-B594-6FA0A8D04F50}"/>
              </a:ext>
            </a:extLst>
          </p:cNvPr>
          <p:cNvSpPr txBox="1"/>
          <p:nvPr/>
        </p:nvSpPr>
        <p:spPr>
          <a:xfrm>
            <a:off x="2318656" y="5210438"/>
            <a:ext cx="795745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200" b="1" dirty="0">
                <a:latin typeface="Cambria" panose="02040503050406030204" pitchFamily="18" charset="0"/>
                <a:ea typeface="Cambria" panose="02040503050406030204" pitchFamily="18" charset="0"/>
              </a:rPr>
              <a:t>Under the Guidance of :</a:t>
            </a:r>
          </a:p>
          <a:p>
            <a:pPr algn="ctr"/>
            <a:r>
              <a:rPr lang="en-IN" sz="2200" b="1" dirty="0">
                <a:latin typeface="Cambria" panose="02040503050406030204" pitchFamily="18" charset="0"/>
                <a:ea typeface="Cambria" panose="02040503050406030204" pitchFamily="18" charset="0"/>
              </a:rPr>
              <a:t>Prof. Utkarsha Gode</a:t>
            </a:r>
            <a:endParaRPr lang="en-US" sz="2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47A7B9-E7D4-FE0F-EFAD-9118EAE922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22955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1F7CCAC-403F-9851-6630-9CEFD964245E}"/>
              </a:ext>
            </a:extLst>
          </p:cNvPr>
          <p:cNvSpPr txBox="1"/>
          <p:nvPr/>
        </p:nvSpPr>
        <p:spPr>
          <a:xfrm>
            <a:off x="2971800" y="2270582"/>
            <a:ext cx="656408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b="1" dirty="0">
                <a:latin typeface="Cambria" panose="02040503050406030204" pitchFamily="18" charset="0"/>
                <a:ea typeface="Cambria" panose="02040503050406030204" pitchFamily="18" charset="0"/>
              </a:rPr>
              <a:t>Session 2026-2027</a:t>
            </a:r>
          </a:p>
        </p:txBody>
      </p:sp>
    </p:spTree>
    <p:extLst>
      <p:ext uri="{BB962C8B-B14F-4D97-AF65-F5344CB8AC3E}">
        <p14:creationId xmlns:p14="http://schemas.microsoft.com/office/powerpoint/2010/main" val="6783544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89096-E1B6-AEA9-49E6-C280A4228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A63FD14-935B-44D0-2F25-8C3004CF7439}"/>
              </a:ext>
            </a:extLst>
          </p:cNvPr>
          <p:cNvSpPr txBox="1"/>
          <p:nvPr/>
        </p:nvSpPr>
        <p:spPr>
          <a:xfrm>
            <a:off x="2117271" y="120645"/>
            <a:ext cx="795745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tabLst>
                <a:tab pos="2633663" algn="l"/>
              </a:tabLst>
            </a:pPr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CONTENTS</a:t>
            </a:r>
            <a:endParaRPr lang="en-US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96EBAF-F37C-0B05-2A78-0EC167B908A2}"/>
              </a:ext>
            </a:extLst>
          </p:cNvPr>
          <p:cNvSpPr txBox="1"/>
          <p:nvPr/>
        </p:nvSpPr>
        <p:spPr>
          <a:xfrm>
            <a:off x="1840012" y="705420"/>
            <a:ext cx="7957457" cy="584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97280" indent="-803275">
              <a:buFont typeface="+mj-lt"/>
              <a:buAutoNum type="arabicPeriod"/>
            </a:pPr>
            <a:r>
              <a:rPr lang="en-IN" sz="2200" b="1" dirty="0">
                <a:latin typeface="Cambria" panose="02040503050406030204" pitchFamily="18" charset="0"/>
                <a:ea typeface="Cambria" panose="02040503050406030204" pitchFamily="18" charset="0"/>
              </a:rPr>
              <a:t>Introduction</a:t>
            </a:r>
          </a:p>
          <a:p>
            <a:pPr marL="1097280" indent="-803275">
              <a:buFont typeface="+mj-lt"/>
              <a:buAutoNum type="arabicPeriod"/>
            </a:pPr>
            <a:r>
              <a:rPr lang="en-IN" sz="2200" b="1" dirty="0"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  <a:p>
            <a:pPr marL="1097280" indent="-803275">
              <a:buFont typeface="+mj-lt"/>
              <a:buAutoNum type="arabicPeriod"/>
            </a:pPr>
            <a:r>
              <a:rPr lang="en-IN" sz="2200" b="1" dirty="0">
                <a:latin typeface="Cambria" panose="02040503050406030204" pitchFamily="18" charset="0"/>
                <a:ea typeface="Cambria" panose="02040503050406030204" pitchFamily="18" charset="0"/>
              </a:rPr>
              <a:t>Objectives Of The Project</a:t>
            </a:r>
          </a:p>
          <a:p>
            <a:pPr marL="1097280" indent="-803275">
              <a:buFont typeface="+mj-lt"/>
              <a:buAutoNum type="arabicPeriod"/>
            </a:pPr>
            <a:r>
              <a:rPr lang="en-IN" sz="2200" b="1" dirty="0">
                <a:latin typeface="Cambria" panose="02040503050406030204" pitchFamily="18" charset="0"/>
                <a:ea typeface="Cambria" panose="02040503050406030204" pitchFamily="18" charset="0"/>
              </a:rPr>
              <a:t>Literature Survey</a:t>
            </a:r>
          </a:p>
          <a:p>
            <a:pPr marL="1097280" indent="-803275">
              <a:buFont typeface="+mj-lt"/>
              <a:buAutoNum type="arabicPeriod"/>
            </a:pPr>
            <a:r>
              <a:rPr lang="en-IN" sz="2200" b="1" dirty="0">
                <a:latin typeface="Cambria" panose="02040503050406030204" pitchFamily="18" charset="0"/>
                <a:ea typeface="Cambria" panose="02040503050406030204" pitchFamily="18" charset="0"/>
              </a:rPr>
              <a:t>Proposed System</a:t>
            </a:r>
          </a:p>
          <a:p>
            <a:pPr marL="1097280" indent="-803275">
              <a:buFont typeface="+mj-lt"/>
              <a:buAutoNum type="arabicPeriod"/>
            </a:pPr>
            <a:r>
              <a:rPr lang="en-IN" sz="2200" b="1" dirty="0">
                <a:latin typeface="Cambria" panose="02040503050406030204" pitchFamily="18" charset="0"/>
                <a:ea typeface="Cambria" panose="02040503050406030204" pitchFamily="18" charset="0"/>
              </a:rPr>
              <a:t>System Architecture</a:t>
            </a:r>
          </a:p>
          <a:p>
            <a:pPr marL="1097280" indent="-803275">
              <a:buFont typeface="+mj-lt"/>
              <a:buAutoNum type="arabicPeriod"/>
            </a:pPr>
            <a:r>
              <a:rPr lang="en-IN" sz="2200" b="1" dirty="0">
                <a:latin typeface="Cambria" panose="02040503050406030204" pitchFamily="18" charset="0"/>
                <a:ea typeface="Cambria" panose="02040503050406030204" pitchFamily="18" charset="0"/>
              </a:rPr>
              <a:t>Methodology</a:t>
            </a:r>
          </a:p>
          <a:p>
            <a:pPr marL="1097280" indent="-803275">
              <a:buFont typeface="+mj-lt"/>
              <a:buAutoNum type="arabicPeriod"/>
            </a:pPr>
            <a:r>
              <a:rPr lang="en-IN" sz="2200" b="1" dirty="0">
                <a:latin typeface="Cambria" panose="02040503050406030204" pitchFamily="18" charset="0"/>
                <a:ea typeface="Cambria" panose="02040503050406030204" pitchFamily="18" charset="0"/>
              </a:rPr>
              <a:t>Hardware &amp; Software </a:t>
            </a:r>
          </a:p>
          <a:p>
            <a:pPr marL="1097280" indent="-803275">
              <a:buFont typeface="+mj-lt"/>
              <a:buAutoNum type="arabicPeriod"/>
            </a:pPr>
            <a:r>
              <a:rPr lang="en-IN" sz="2200" b="1" dirty="0">
                <a:latin typeface="Cambria" panose="02040503050406030204" pitchFamily="18" charset="0"/>
                <a:ea typeface="Cambria" panose="02040503050406030204" pitchFamily="18" charset="0"/>
              </a:rPr>
              <a:t>Implementation Status</a:t>
            </a:r>
          </a:p>
          <a:p>
            <a:pPr marL="1097280" indent="-803275">
              <a:buFont typeface="+mj-lt"/>
              <a:buAutoNum type="arabicPeriod"/>
            </a:pPr>
            <a:r>
              <a:rPr lang="en-IN" sz="2200" b="1" dirty="0">
                <a:latin typeface="Cambria" panose="02040503050406030204" pitchFamily="18" charset="0"/>
                <a:ea typeface="Cambria" panose="02040503050406030204" pitchFamily="18" charset="0"/>
              </a:rPr>
              <a:t>Results</a:t>
            </a:r>
          </a:p>
          <a:p>
            <a:pPr marL="1097280" indent="-803275">
              <a:buFont typeface="+mj-lt"/>
              <a:buAutoNum type="arabicPeriod"/>
            </a:pPr>
            <a:r>
              <a:rPr lang="en-IN" sz="2200" b="1" dirty="0">
                <a:latin typeface="Cambria" panose="02040503050406030204" pitchFamily="18" charset="0"/>
                <a:ea typeface="Cambria" panose="02040503050406030204" pitchFamily="18" charset="0"/>
              </a:rPr>
              <a:t>Advantages</a:t>
            </a:r>
          </a:p>
          <a:p>
            <a:pPr marL="1097280" indent="-803275">
              <a:buFont typeface="+mj-lt"/>
              <a:buAutoNum type="arabicPeriod"/>
            </a:pPr>
            <a:r>
              <a:rPr lang="en-IN" sz="2200" b="1" dirty="0">
                <a:latin typeface="Cambria" panose="02040503050406030204" pitchFamily="18" charset="0"/>
                <a:ea typeface="Cambria" panose="02040503050406030204" pitchFamily="18" charset="0"/>
              </a:rPr>
              <a:t>Application</a:t>
            </a:r>
          </a:p>
          <a:p>
            <a:pPr marL="1097280" indent="-803275">
              <a:buFont typeface="+mj-lt"/>
              <a:buAutoNum type="arabicPeriod"/>
            </a:pPr>
            <a:r>
              <a:rPr lang="en-IN" sz="2200" b="1" dirty="0">
                <a:latin typeface="Cambria" panose="02040503050406030204" pitchFamily="18" charset="0"/>
                <a:ea typeface="Cambria" panose="02040503050406030204" pitchFamily="18" charset="0"/>
              </a:rPr>
              <a:t>Future Scope</a:t>
            </a:r>
          </a:p>
          <a:p>
            <a:pPr marL="1097280" indent="-803275">
              <a:buFont typeface="+mj-lt"/>
              <a:buAutoNum type="arabicPeriod"/>
            </a:pPr>
            <a:r>
              <a:rPr lang="en-IN" sz="2200" b="1" dirty="0">
                <a:latin typeface="Cambria" panose="02040503050406030204" pitchFamily="18" charset="0"/>
                <a:ea typeface="Cambria" panose="02040503050406030204" pitchFamily="18" charset="0"/>
              </a:rPr>
              <a:t>Conclusion</a:t>
            </a:r>
          </a:p>
          <a:p>
            <a:pPr marL="1097280" indent="-803275">
              <a:buFont typeface="+mj-lt"/>
              <a:buAutoNum type="arabicPeriod"/>
            </a:pPr>
            <a:r>
              <a:rPr lang="en-IN" sz="2200" b="1" dirty="0"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  <a:p>
            <a:pPr marL="1097280" indent="-803275">
              <a:buFont typeface="+mj-lt"/>
              <a:buAutoNum type="arabicPeriod"/>
            </a:pPr>
            <a:r>
              <a:rPr lang="en-IN" sz="2200" b="1" dirty="0">
                <a:latin typeface="Cambria" panose="02040503050406030204" pitchFamily="18" charset="0"/>
                <a:ea typeface="Cambria" panose="02040503050406030204" pitchFamily="18" charset="0"/>
              </a:rPr>
              <a:t>Paper Publication</a:t>
            </a:r>
          </a:p>
          <a:p>
            <a:pPr marL="1097280" indent="-457200">
              <a:buFont typeface="+mj-lt"/>
              <a:buAutoNum type="arabicPeriod"/>
            </a:pPr>
            <a:endParaRPr lang="en-US" sz="2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9795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533C832-77C9-561D-8243-217199DFF808}"/>
              </a:ext>
            </a:extLst>
          </p:cNvPr>
          <p:cNvSpPr txBox="1"/>
          <p:nvPr/>
        </p:nvSpPr>
        <p:spPr>
          <a:xfrm>
            <a:off x="0" y="73992"/>
            <a:ext cx="1219199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tabLst>
                <a:tab pos="2633663" algn="l"/>
              </a:tabLst>
            </a:pPr>
            <a:r>
              <a:rPr lang="en-IN" sz="3200" b="1" dirty="0">
                <a:latin typeface="Cambria" panose="02040503050406030204" pitchFamily="18" charset="0"/>
                <a:ea typeface="Cambria" panose="02040503050406030204" pitchFamily="18" charset="0"/>
              </a:rPr>
              <a:t>1. INTRODUCTION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BB16E1C-84A8-4271-8B01-6222E53B80B9}"/>
              </a:ext>
            </a:extLst>
          </p:cNvPr>
          <p:cNvSpPr txBox="1"/>
          <p:nvPr/>
        </p:nvSpPr>
        <p:spPr>
          <a:xfrm>
            <a:off x="208382" y="1101011"/>
            <a:ext cx="11088883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IN" sz="2800" dirty="0"/>
              <a:t>Artificial Intelligence (AI) can create highly realistic </a:t>
            </a:r>
            <a:r>
              <a:rPr lang="en-IN" sz="2800" b="1" dirty="0"/>
              <a:t>fake images and videos</a:t>
            </a:r>
            <a:r>
              <a:rPr lang="en-IN" sz="2800" dirty="0"/>
              <a:t>. 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IN" sz="2800" dirty="0"/>
              <a:t>Such content can be used to spread </a:t>
            </a:r>
            <a:r>
              <a:rPr lang="en-IN" sz="2800" b="1" dirty="0"/>
              <a:t>misinformation and misleading information</a:t>
            </a:r>
            <a:r>
              <a:rPr lang="en-IN" sz="2800" dirty="0"/>
              <a:t>. 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IN" sz="2800" dirty="0"/>
              <a:t>It is becoming difficult to identify fake media through </a:t>
            </a:r>
            <a:r>
              <a:rPr lang="en-IN" sz="2800" b="1" dirty="0"/>
              <a:t>manual observation</a:t>
            </a:r>
            <a:r>
              <a:rPr lang="en-IN" sz="2800" dirty="0"/>
              <a:t>. 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IN" sz="2800" b="1" dirty="0" err="1"/>
              <a:t>RealCheck</a:t>
            </a:r>
            <a:r>
              <a:rPr lang="en-IN" sz="2800" b="1" dirty="0"/>
              <a:t> AI</a:t>
            </a:r>
            <a:r>
              <a:rPr lang="en-IN" sz="2800" dirty="0"/>
              <a:t> uses </a:t>
            </a:r>
            <a:r>
              <a:rPr lang="en-IN" sz="2800" b="1" dirty="0"/>
              <a:t>Deep Learning and Computer Vision</a:t>
            </a:r>
            <a:r>
              <a:rPr lang="en-IN" sz="2800" dirty="0"/>
              <a:t> to detect fake media. 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IN" sz="2800" dirty="0"/>
              <a:t>The system </a:t>
            </a:r>
            <a:r>
              <a:rPr lang="en-IN" sz="2800" dirty="0" err="1"/>
              <a:t>analyzes</a:t>
            </a:r>
            <a:r>
              <a:rPr lang="en-IN" sz="2800" dirty="0"/>
              <a:t> </a:t>
            </a:r>
            <a:r>
              <a:rPr lang="en-IN" sz="2800" b="1" dirty="0"/>
              <a:t>images and videos</a:t>
            </a:r>
            <a:r>
              <a:rPr lang="en-IN" sz="2800" dirty="0"/>
              <a:t> and predicts whether they are </a:t>
            </a:r>
            <a:r>
              <a:rPr lang="en-IN" sz="2800" b="1" dirty="0"/>
              <a:t>Real or AI-Generated/Fake</a:t>
            </a:r>
            <a:r>
              <a:rPr lang="en-IN" sz="2800" dirty="0"/>
              <a:t>. 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IN" sz="2800" dirty="0"/>
              <a:t>It also provides a </a:t>
            </a:r>
            <a:r>
              <a:rPr lang="en-IN" sz="2800" b="1" dirty="0"/>
              <a:t>confidence score and basic analysis</a:t>
            </a:r>
            <a:r>
              <a:rPr lang="en-IN" sz="2800" dirty="0"/>
              <a:t> of the prediction.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220872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262B9-4DC6-2D73-B39B-C3639559E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D5D97F3-38E9-CE96-8C0F-F9071A1F0BC5}"/>
              </a:ext>
            </a:extLst>
          </p:cNvPr>
          <p:cNvSpPr txBox="1"/>
          <p:nvPr/>
        </p:nvSpPr>
        <p:spPr>
          <a:xfrm>
            <a:off x="0" y="120645"/>
            <a:ext cx="1219199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tabLst>
                <a:tab pos="2633663" algn="l"/>
              </a:tabLst>
            </a:pPr>
            <a:r>
              <a:rPr lang="en-IN" sz="3200" b="1" dirty="0">
                <a:latin typeface="Cambria" panose="02040503050406030204" pitchFamily="18" charset="0"/>
                <a:ea typeface="Cambria" panose="02040503050406030204" pitchFamily="18" charset="0"/>
              </a:rPr>
              <a:t>2. PROBLEM STATEMENT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A6032B8-AEC0-457B-BECD-15A7E8223BA5}"/>
              </a:ext>
            </a:extLst>
          </p:cNvPr>
          <p:cNvSpPr txBox="1"/>
          <p:nvPr/>
        </p:nvSpPr>
        <p:spPr>
          <a:xfrm>
            <a:off x="1134703" y="1336074"/>
            <a:ext cx="992259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ü"/>
            </a:pPr>
            <a:r>
              <a:rPr lang="en-IN" sz="2800" dirty="0"/>
              <a:t>AI technology can easily create </a:t>
            </a:r>
            <a:r>
              <a:rPr lang="en-IN" sz="2800" b="1" dirty="0"/>
              <a:t>realistic fake images and videos</a:t>
            </a:r>
            <a:r>
              <a:rPr lang="en-IN" sz="2800" dirty="0"/>
              <a:t>. </a:t>
            </a:r>
          </a:p>
          <a:p>
            <a:pPr marL="342900" lvl="0" indent="-342900">
              <a:buFont typeface="Wingdings" panose="05000000000000000000" pitchFamily="2" charset="2"/>
              <a:buChar char="ü"/>
            </a:pPr>
            <a:r>
              <a:rPr lang="en-IN" sz="2800" dirty="0"/>
              <a:t>Fake media can be used to spread </a:t>
            </a:r>
            <a:r>
              <a:rPr lang="en-IN" sz="2800" b="1" dirty="0"/>
              <a:t>misinformation and false information</a:t>
            </a:r>
            <a:r>
              <a:rPr lang="en-IN" sz="2800" dirty="0"/>
              <a:t>. </a:t>
            </a:r>
          </a:p>
          <a:p>
            <a:pPr marL="342900" lvl="0" indent="-342900">
              <a:buFont typeface="Wingdings" panose="05000000000000000000" pitchFamily="2" charset="2"/>
              <a:buChar char="ü"/>
            </a:pPr>
            <a:r>
              <a:rPr lang="en-IN" sz="2800" dirty="0"/>
              <a:t>It is difficult for users to identify fake content through </a:t>
            </a:r>
            <a:r>
              <a:rPr lang="en-IN" sz="2800" b="1" dirty="0"/>
              <a:t>manual checking</a:t>
            </a:r>
            <a:r>
              <a:rPr lang="en-IN" sz="2800" dirty="0"/>
              <a:t>. </a:t>
            </a:r>
          </a:p>
          <a:p>
            <a:pPr marL="342900" lvl="0" indent="-342900">
              <a:buFont typeface="Wingdings" panose="05000000000000000000" pitchFamily="2" charset="2"/>
              <a:buChar char="ü"/>
            </a:pPr>
            <a:r>
              <a:rPr lang="en-IN" sz="2800" dirty="0"/>
              <a:t>Existing detection methods may focus on only </a:t>
            </a:r>
            <a:r>
              <a:rPr lang="en-IN" sz="2800" b="1" dirty="0"/>
              <a:t>one type of media</a:t>
            </a:r>
            <a:r>
              <a:rPr lang="en-IN" sz="2800" dirty="0"/>
              <a:t>. </a:t>
            </a:r>
          </a:p>
          <a:p>
            <a:pPr marL="342900" lvl="0" indent="-342900">
              <a:buFont typeface="Wingdings" panose="05000000000000000000" pitchFamily="2" charset="2"/>
              <a:buChar char="ü"/>
            </a:pPr>
            <a:r>
              <a:rPr lang="en-IN" sz="2800" dirty="0"/>
              <a:t>There is a need for an </a:t>
            </a:r>
            <a:r>
              <a:rPr lang="en-IN" sz="2800" b="1" dirty="0"/>
              <a:t>automated system</a:t>
            </a:r>
            <a:r>
              <a:rPr lang="en-IN" sz="2800" dirty="0"/>
              <a:t> that can </a:t>
            </a:r>
            <a:r>
              <a:rPr lang="en-IN" sz="2800" dirty="0" err="1"/>
              <a:t>analyze</a:t>
            </a:r>
            <a:r>
              <a:rPr lang="en-IN" sz="2800" dirty="0"/>
              <a:t> both images and videos. </a:t>
            </a:r>
          </a:p>
          <a:p>
            <a:pPr marL="342900" lvl="0" indent="-342900">
              <a:buFont typeface="Wingdings" panose="05000000000000000000" pitchFamily="2" charset="2"/>
              <a:buChar char="ü"/>
            </a:pPr>
            <a:r>
              <a:rPr lang="en-IN" sz="2800" b="1" dirty="0" err="1"/>
              <a:t>RealCheck</a:t>
            </a:r>
            <a:r>
              <a:rPr lang="en-IN" sz="2800" b="1" dirty="0"/>
              <a:t> AI</a:t>
            </a:r>
            <a:r>
              <a:rPr lang="en-IN" sz="2800" dirty="0"/>
              <a:t> aims to detect fake media and provide a </a:t>
            </a:r>
            <a:r>
              <a:rPr lang="en-IN" sz="2800" b="1" dirty="0"/>
              <a:t>prediction with confidence score</a:t>
            </a:r>
            <a:r>
              <a:rPr lang="en-IN" sz="2800" dirty="0"/>
              <a:t>.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3561213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CE83B-D0D2-1AFC-A367-CBF5652E3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38A141B-BE2F-7596-D98C-D652B7536098}"/>
              </a:ext>
            </a:extLst>
          </p:cNvPr>
          <p:cNvSpPr txBox="1"/>
          <p:nvPr/>
        </p:nvSpPr>
        <p:spPr>
          <a:xfrm>
            <a:off x="0" y="120645"/>
            <a:ext cx="1219199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tabLst>
                <a:tab pos="2633663" algn="l"/>
              </a:tabLst>
            </a:pPr>
            <a:r>
              <a:rPr lang="en-IN" sz="3200" b="1" dirty="0">
                <a:latin typeface="Cambria" panose="02040503050406030204" pitchFamily="18" charset="0"/>
                <a:ea typeface="Cambria" panose="02040503050406030204" pitchFamily="18" charset="0"/>
              </a:rPr>
              <a:t>3. OBJECTIVES OF THE PROJECT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3D9F946-5066-4569-BAFE-419E4D57770C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432618" y="733246"/>
            <a:ext cx="11071123" cy="61247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>
              <a:buFont typeface="+mj-lt"/>
              <a:buAutoNum type="arabicPeriod"/>
            </a:pPr>
            <a:r>
              <a:rPr lang="en-IN" sz="2800" b="1" dirty="0"/>
              <a:t>Detect Fake Media</a:t>
            </a:r>
            <a:r>
              <a:rPr lang="en-IN" sz="2800" dirty="0"/>
              <a:t> – Identify AI-generated and manipulated images and videos.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800" b="1" dirty="0" err="1"/>
              <a:t>Analyze</a:t>
            </a:r>
            <a:r>
              <a:rPr lang="en-IN" sz="2800" b="1" dirty="0"/>
              <a:t> Images and Videos</a:t>
            </a:r>
            <a:r>
              <a:rPr lang="en-IN" sz="2800" dirty="0"/>
              <a:t> – Provide detection through a single system.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800" b="1" dirty="0"/>
              <a:t>Classify Media</a:t>
            </a:r>
            <a:r>
              <a:rPr lang="en-IN" sz="2800" dirty="0"/>
              <a:t> – Predict whether the uploaded media is </a:t>
            </a:r>
            <a:r>
              <a:rPr lang="en-IN" sz="2800" b="1" dirty="0"/>
              <a:t>Real or AI-Generated/Fake</a:t>
            </a:r>
            <a:r>
              <a:rPr lang="en-IN" sz="2800" dirty="0"/>
              <a:t>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800" b="1" dirty="0"/>
              <a:t>Provide Confidence Score</a:t>
            </a:r>
            <a:r>
              <a:rPr lang="en-IN" sz="2800" dirty="0"/>
              <a:t> – Show the confidence level of the prediction.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800" b="1" dirty="0"/>
              <a:t>Provide Analysis</a:t>
            </a:r>
            <a:r>
              <a:rPr lang="en-IN" sz="2800" dirty="0"/>
              <a:t> – Give useful information to help users understand the result.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800" b="1" dirty="0"/>
              <a:t>User-Friendly System</a:t>
            </a:r>
            <a:r>
              <a:rPr lang="en-IN" sz="2800" dirty="0"/>
              <a:t> – Develop a simple interface for easy media upload and detection.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800" b="1" dirty="0"/>
              <a:t>Reduce Misinformation</a:t>
            </a:r>
            <a:r>
              <a:rPr lang="en-IN" sz="2800" dirty="0"/>
              <a:t> – Help users identify suspicious digital content before sharing it.</a:t>
            </a:r>
          </a:p>
        </p:txBody>
      </p:sp>
    </p:spTree>
    <p:extLst>
      <p:ext uri="{BB962C8B-B14F-4D97-AF65-F5344CB8AC3E}">
        <p14:creationId xmlns:p14="http://schemas.microsoft.com/office/powerpoint/2010/main" val="9682149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88060-B79C-5861-1FD4-1FAFE9026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1028496-125B-9846-D6BD-CB32E3B00C18}"/>
              </a:ext>
            </a:extLst>
          </p:cNvPr>
          <p:cNvSpPr txBox="1"/>
          <p:nvPr/>
        </p:nvSpPr>
        <p:spPr>
          <a:xfrm>
            <a:off x="0" y="120645"/>
            <a:ext cx="1219199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tabLst>
                <a:tab pos="2633663" algn="l"/>
              </a:tabLst>
            </a:pPr>
            <a:r>
              <a:rPr lang="en-IN" sz="3200" b="1" dirty="0">
                <a:latin typeface="Cambria" panose="02040503050406030204" pitchFamily="18" charset="0"/>
                <a:ea typeface="Cambria" panose="02040503050406030204" pitchFamily="18" charset="0"/>
              </a:rPr>
              <a:t>4. LITERATURE SURVEY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D056432-186E-1571-633C-F093F6C387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4389588"/>
              </p:ext>
            </p:extLst>
          </p:nvPr>
        </p:nvGraphicFramePr>
        <p:xfrm>
          <a:off x="437597" y="705418"/>
          <a:ext cx="11316803" cy="810879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1734">
                  <a:extLst>
                    <a:ext uri="{9D8B030D-6E8A-4147-A177-3AD203B41FA5}">
                      <a16:colId xmlns:a16="http://schemas.microsoft.com/office/drawing/2014/main" val="2190337389"/>
                    </a:ext>
                  </a:extLst>
                </a:gridCol>
                <a:gridCol w="4145391">
                  <a:extLst>
                    <a:ext uri="{9D8B030D-6E8A-4147-A177-3AD203B41FA5}">
                      <a16:colId xmlns:a16="http://schemas.microsoft.com/office/drawing/2014/main" val="2502561993"/>
                    </a:ext>
                  </a:extLst>
                </a:gridCol>
                <a:gridCol w="1707614">
                  <a:extLst>
                    <a:ext uri="{9D8B030D-6E8A-4147-A177-3AD203B41FA5}">
                      <a16:colId xmlns:a16="http://schemas.microsoft.com/office/drawing/2014/main" val="3595602144"/>
                    </a:ext>
                  </a:extLst>
                </a:gridCol>
                <a:gridCol w="4882064">
                  <a:extLst>
                    <a:ext uri="{9D8B030D-6E8A-4147-A177-3AD203B41FA5}">
                      <a16:colId xmlns:a16="http://schemas.microsoft.com/office/drawing/2014/main" val="138200205"/>
                    </a:ext>
                  </a:extLst>
                </a:gridCol>
              </a:tblGrid>
              <a:tr h="1432366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Sr. No. </a:t>
                      </a:r>
                      <a:endParaRPr lang="en-IN" sz="22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Name of Paper </a:t>
                      </a:r>
                      <a:endParaRPr lang="en-IN" sz="22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Year of Publication </a:t>
                      </a:r>
                      <a:endParaRPr lang="en-IN" sz="22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Contribution</a:t>
                      </a:r>
                      <a:endParaRPr lang="en-IN" sz="22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6608790"/>
                  </a:ext>
                </a:extLst>
              </a:tr>
              <a:tr h="119363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Can ChatGPT Detect Deep Fakes? A Study of Using Multimodal Large Language Models for Media Forensics</a:t>
                      </a:r>
                      <a:endParaRPr lang="en-IN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(2024)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Studied how multimodal AI models can detect AI-generated images and deepfakes.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9396159"/>
                  </a:ext>
                </a:extLst>
              </a:tr>
              <a:tr h="103161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Raising the Bar of AI-generated Image Detection with CLIP</a:t>
                      </a:r>
                      <a:endParaRPr lang="en-IN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(2024)</a:t>
                      </a:r>
                    </a:p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Used CLIP-based features to improve the detection of AI-generated images.</a:t>
                      </a:r>
                      <a:endParaRPr lang="en-IN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5574193"/>
                  </a:ext>
                </a:extLst>
              </a:tr>
              <a:tr h="103161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Multi-modal Deepfake Detection via Multi-task Audio-Visual Prompt Learning</a:t>
                      </a:r>
                      <a:endParaRPr lang="en-IN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(2025)</a:t>
                      </a:r>
                    </a:p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Combines audio and visual information to improve deepfake video detection.</a:t>
                      </a:r>
                      <a:endParaRPr lang="en-IN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6097114"/>
                  </a:ext>
                </a:extLst>
              </a:tr>
              <a:tr h="119363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SIDA: Social Media Image Deepfake Detection, Localization and Explanation with Large Multimodal Model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(2025)</a:t>
                      </a:r>
                    </a:p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Detects fake images, identifies manipulated regions, and provide explanations for the prediction.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7869642"/>
                  </a:ext>
                </a:extLst>
              </a:tr>
              <a:tr h="793553"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2333323"/>
                  </a:ext>
                </a:extLst>
              </a:tr>
              <a:tr h="477455"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6034519"/>
                  </a:ext>
                </a:extLst>
              </a:tr>
              <a:tr h="477455"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1467564"/>
                  </a:ext>
                </a:extLst>
              </a:tr>
              <a:tr h="47745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527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00649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65EAB-6043-B06B-00D6-4E3EFD56D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3ABB75F-F54D-9930-1D70-B678BF1EA0AC}"/>
              </a:ext>
            </a:extLst>
          </p:cNvPr>
          <p:cNvSpPr txBox="1"/>
          <p:nvPr/>
        </p:nvSpPr>
        <p:spPr>
          <a:xfrm>
            <a:off x="-137652" y="150141"/>
            <a:ext cx="1219199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tabLst>
                <a:tab pos="2633663" algn="l"/>
              </a:tabLst>
            </a:pPr>
            <a:r>
              <a:rPr lang="en-IN" sz="3200" b="1" dirty="0">
                <a:latin typeface="Cambria" panose="02040503050406030204" pitchFamily="18" charset="0"/>
                <a:ea typeface="Cambria" panose="02040503050406030204" pitchFamily="18" charset="0"/>
              </a:rPr>
              <a:t>5. PROPOSED SYSTEM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F636805-547D-4D6E-A0AE-BC5F68B5BAA0}"/>
              </a:ext>
            </a:extLst>
          </p:cNvPr>
          <p:cNvSpPr>
            <a:spLocks noChangeArrowheads="1"/>
          </p:cNvSpPr>
          <p:nvPr/>
        </p:nvSpPr>
        <p:spPr bwMode="auto">
          <a:xfrm rot="14992527">
            <a:off x="746449" y="2306607"/>
            <a:ext cx="2487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4091F06-BA4F-9985-FF02-6E4EED676F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68680"/>
            <a:ext cx="12192000" cy="6080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7777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CB2F8-19A8-F5A2-8722-03C815ED2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F0399BD-B2FA-9C94-309E-5C34151831A9}"/>
              </a:ext>
            </a:extLst>
          </p:cNvPr>
          <p:cNvSpPr txBox="1"/>
          <p:nvPr/>
        </p:nvSpPr>
        <p:spPr>
          <a:xfrm>
            <a:off x="0" y="120645"/>
            <a:ext cx="1219199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tabLst>
                <a:tab pos="2633663" algn="l"/>
              </a:tabLst>
            </a:pPr>
            <a:r>
              <a:rPr lang="en-IN" sz="3200" b="1" dirty="0">
                <a:latin typeface="Cambria" panose="02040503050406030204" pitchFamily="18" charset="0"/>
                <a:ea typeface="Cambria" panose="02040503050406030204" pitchFamily="18" charset="0"/>
              </a:rPr>
              <a:t>6. SYSTEM ARCHITECTURE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3451A2-4CC5-B8CB-06F1-F30A1F42FC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82" y="805501"/>
            <a:ext cx="10648334" cy="5791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3311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A3D33-BA74-BC2E-F376-6F038C5CAD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177" y="224853"/>
            <a:ext cx="9144000" cy="670810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+mn-lt"/>
              </a:rPr>
              <a:t>7. METHODOLOGY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BB9106-69E7-0D18-46AE-B9B9528091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4140" y="1258529"/>
            <a:ext cx="10063720" cy="5164675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IN" b="1" dirty="0" err="1"/>
              <a:t>RealCheck</a:t>
            </a:r>
            <a:r>
              <a:rPr lang="en-IN" b="1" dirty="0"/>
              <a:t> AI follows these main steps:</a:t>
            </a:r>
            <a:endParaRPr lang="en-IN" dirty="0"/>
          </a:p>
          <a:p>
            <a:pPr marL="457200" lvl="0" indent="-457200" algn="l">
              <a:buFont typeface="+mj-lt"/>
              <a:buAutoNum type="arabicPeriod"/>
            </a:pPr>
            <a:r>
              <a:rPr lang="en-IN" b="1" dirty="0"/>
              <a:t>Data Collection</a:t>
            </a:r>
            <a:br>
              <a:rPr lang="en-IN" dirty="0"/>
            </a:br>
            <a:r>
              <a:rPr lang="en-IN" dirty="0"/>
              <a:t>Collect real and AI-generated/fake media for training and testing. </a:t>
            </a:r>
          </a:p>
          <a:p>
            <a:pPr marL="457200" lvl="0" indent="-457200" algn="l">
              <a:buFont typeface="+mj-lt"/>
              <a:buAutoNum type="arabicPeriod"/>
            </a:pPr>
            <a:r>
              <a:rPr lang="en-IN" b="1" dirty="0"/>
              <a:t>Preprocessing</a:t>
            </a:r>
            <a:br>
              <a:rPr lang="en-IN" dirty="0"/>
            </a:br>
            <a:r>
              <a:rPr lang="en-IN" dirty="0"/>
              <a:t>Resize and normalize images. For videos, extract selected frames. </a:t>
            </a:r>
          </a:p>
          <a:p>
            <a:pPr marL="457200" lvl="0" indent="-457200" algn="l">
              <a:buFont typeface="+mj-lt"/>
              <a:buAutoNum type="arabicPeriod"/>
            </a:pPr>
            <a:r>
              <a:rPr lang="en-IN" b="1" dirty="0"/>
              <a:t>Feature Extraction</a:t>
            </a:r>
            <a:br>
              <a:rPr lang="en-IN" dirty="0"/>
            </a:br>
            <a:r>
              <a:rPr lang="en-IN" dirty="0"/>
              <a:t>Extract important visual features from the media. </a:t>
            </a:r>
          </a:p>
          <a:p>
            <a:pPr marL="457200" lvl="0" indent="-457200" algn="l">
              <a:buFont typeface="+mj-lt"/>
              <a:buAutoNum type="arabicPeriod"/>
            </a:pPr>
            <a:r>
              <a:rPr lang="en-IN" b="1" dirty="0"/>
              <a:t>Model Training</a:t>
            </a:r>
            <a:br>
              <a:rPr lang="en-IN" dirty="0"/>
            </a:br>
            <a:r>
              <a:rPr lang="en-IN" dirty="0"/>
              <a:t>Train a deep learning model using real and fake samples. </a:t>
            </a:r>
          </a:p>
          <a:p>
            <a:pPr marL="457200" lvl="0" indent="-457200" algn="l">
              <a:buFont typeface="+mj-lt"/>
              <a:buAutoNum type="arabicPeriod"/>
            </a:pPr>
            <a:r>
              <a:rPr lang="en-IN" b="1" dirty="0"/>
              <a:t>Media Detection</a:t>
            </a:r>
            <a:br>
              <a:rPr lang="en-IN" dirty="0"/>
            </a:br>
            <a:r>
              <a:rPr lang="en-IN" dirty="0" err="1"/>
              <a:t>Analyze</a:t>
            </a:r>
            <a:r>
              <a:rPr lang="en-IN" dirty="0"/>
              <a:t> the uploaded image or video using the trained model. </a:t>
            </a:r>
          </a:p>
          <a:p>
            <a:pPr marL="457200" lvl="0" indent="-457200" algn="l">
              <a:buFont typeface="+mj-lt"/>
              <a:buAutoNum type="arabicPeriod"/>
            </a:pPr>
            <a:r>
              <a:rPr lang="en-IN" b="1" dirty="0"/>
              <a:t>Prediction</a:t>
            </a:r>
            <a:br>
              <a:rPr lang="en-IN" dirty="0"/>
            </a:br>
            <a:r>
              <a:rPr lang="en-IN" dirty="0"/>
              <a:t>Classify the media as </a:t>
            </a:r>
            <a:r>
              <a:rPr lang="en-IN" b="1" dirty="0"/>
              <a:t>Real</a:t>
            </a:r>
            <a:r>
              <a:rPr lang="en-IN" dirty="0"/>
              <a:t> or </a:t>
            </a:r>
            <a:r>
              <a:rPr lang="en-IN" b="1" dirty="0"/>
              <a:t>AI-Generated/Fake</a:t>
            </a:r>
            <a:r>
              <a:rPr lang="en-IN" dirty="0"/>
              <a:t>. </a:t>
            </a:r>
          </a:p>
          <a:p>
            <a:pPr marL="457200" lvl="0" indent="-457200" algn="l">
              <a:buFont typeface="+mj-lt"/>
              <a:buAutoNum type="arabicPeriod"/>
            </a:pPr>
            <a:r>
              <a:rPr lang="en-IN" b="1" dirty="0"/>
              <a:t>Result Analysis</a:t>
            </a:r>
            <a:br>
              <a:rPr lang="en-IN" dirty="0"/>
            </a:br>
            <a:r>
              <a:rPr lang="en-IN" dirty="0"/>
              <a:t>Generate the </a:t>
            </a:r>
            <a:r>
              <a:rPr lang="en-IN" b="1" dirty="0"/>
              <a:t>confidence score</a:t>
            </a:r>
            <a:r>
              <a:rPr lang="en-IN" dirty="0"/>
              <a:t>, fake-frame ratio for videos, and basic analysis. </a:t>
            </a:r>
          </a:p>
          <a:p>
            <a:pPr marL="457200" lvl="0" indent="-457200" algn="l">
              <a:buFont typeface="+mj-lt"/>
              <a:buAutoNum type="arabicPeriod"/>
            </a:pPr>
            <a:r>
              <a:rPr lang="en-IN" b="1" dirty="0"/>
              <a:t>Result Display</a:t>
            </a:r>
            <a:br>
              <a:rPr lang="en-IN" dirty="0"/>
            </a:br>
            <a:r>
              <a:rPr lang="en-IN" dirty="0"/>
              <a:t>Show the final result through the </a:t>
            </a:r>
            <a:r>
              <a:rPr lang="en-IN" b="1" dirty="0" err="1"/>
              <a:t>Streamlit</a:t>
            </a:r>
            <a:r>
              <a:rPr lang="en-IN" b="1" dirty="0"/>
              <a:t> web interface</a:t>
            </a:r>
            <a:r>
              <a:rPr lang="en-IN" dirty="0"/>
              <a:t>.</a:t>
            </a:r>
          </a:p>
          <a:p>
            <a:pPr marL="457200" indent="-457200" algn="l">
              <a:buFont typeface="+mj-lt"/>
              <a:buAutoNum type="arabicPeriod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176705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34FA0-0737-5983-69DC-83F52DC61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7BAEEAD-FC52-F48D-35D9-30EBF9B0573C}"/>
              </a:ext>
            </a:extLst>
          </p:cNvPr>
          <p:cNvSpPr txBox="1"/>
          <p:nvPr/>
        </p:nvSpPr>
        <p:spPr>
          <a:xfrm>
            <a:off x="0" y="120645"/>
            <a:ext cx="1219199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tabLst>
                <a:tab pos="2633663" algn="l"/>
              </a:tabLst>
            </a:pPr>
            <a:r>
              <a:rPr lang="en-IN" sz="3200" b="1" dirty="0">
                <a:latin typeface="Cambria" panose="02040503050406030204" pitchFamily="18" charset="0"/>
                <a:ea typeface="Cambria" panose="02040503050406030204" pitchFamily="18" charset="0"/>
              </a:rPr>
              <a:t>8. HARDWARE &amp; SOFTWARE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9F01FC0-8532-FFDE-D3E4-A3F1F601E6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766762"/>
            <a:ext cx="11513574" cy="6091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0112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2E8F0-FBBC-C797-7108-A3CB8D816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4696590-2CCF-5A5B-464B-6C17EE6E46CE}"/>
              </a:ext>
            </a:extLst>
          </p:cNvPr>
          <p:cNvSpPr txBox="1"/>
          <p:nvPr/>
        </p:nvSpPr>
        <p:spPr>
          <a:xfrm>
            <a:off x="0" y="120645"/>
            <a:ext cx="1219199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tabLst>
                <a:tab pos="2633663" algn="l"/>
              </a:tabLst>
            </a:pPr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9. </a:t>
            </a:r>
            <a:r>
              <a:rPr lang="en-IN" sz="3200" b="1" dirty="0">
                <a:latin typeface="Cambria" panose="02040503050406030204" pitchFamily="18" charset="0"/>
                <a:ea typeface="Cambria" panose="02040503050406030204" pitchFamily="18" charset="0"/>
              </a:rPr>
              <a:t>IMPLEMENTATION STATUS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EC52EC3-93EF-6860-04FE-CEE3CF472F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26" y="865084"/>
            <a:ext cx="12123173" cy="5992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628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24B02-4EA9-56DD-6755-A6C74A2FB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23C73F0-9906-0C75-D98B-568654A26C21}"/>
              </a:ext>
            </a:extLst>
          </p:cNvPr>
          <p:cNvSpPr txBox="1"/>
          <p:nvPr/>
        </p:nvSpPr>
        <p:spPr>
          <a:xfrm>
            <a:off x="0" y="120645"/>
            <a:ext cx="1219199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tabLst>
                <a:tab pos="2633663" algn="l"/>
              </a:tabLst>
            </a:pPr>
            <a:r>
              <a:rPr lang="en-IN" sz="3200" b="1" dirty="0">
                <a:latin typeface="Cambria" panose="02040503050406030204" pitchFamily="18" charset="0"/>
                <a:ea typeface="Cambria" panose="02040503050406030204" pitchFamily="18" charset="0"/>
              </a:rPr>
              <a:t>10. RESULTS</a:t>
            </a:r>
            <a:endParaRPr lang="en-US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8995A53-767C-B10D-9BB7-3E160C1D48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05420"/>
            <a:ext cx="12192000" cy="6152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3960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9D4AB-C9B9-7F28-25EB-3255DC55E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67D30A4-CEBF-25CC-6327-698471BE0390}"/>
              </a:ext>
            </a:extLst>
          </p:cNvPr>
          <p:cNvSpPr txBox="1"/>
          <p:nvPr/>
        </p:nvSpPr>
        <p:spPr>
          <a:xfrm>
            <a:off x="0" y="73992"/>
            <a:ext cx="1219199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tabLst>
                <a:tab pos="2633663" algn="l"/>
              </a:tabLst>
            </a:pPr>
            <a:r>
              <a:rPr lang="en-IN" sz="3200" b="1" dirty="0">
                <a:latin typeface="Cambria" panose="02040503050406030204" pitchFamily="18" charset="0"/>
                <a:ea typeface="Cambria" panose="02040503050406030204" pitchFamily="18" charset="0"/>
              </a:rPr>
              <a:t>11. ADVANTAGES</a:t>
            </a:r>
            <a:endParaRPr lang="en-US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FD5076E-99D0-4256-AB52-A9ABCCEE21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456" y="1128694"/>
            <a:ext cx="11227085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>
              <a:buFont typeface="+mj-lt"/>
              <a:buAutoNum type="arabicPeriod"/>
            </a:pPr>
            <a:r>
              <a:rPr lang="en-IN" sz="2800" b="1" dirty="0"/>
              <a:t>Multimodal Detection</a:t>
            </a:r>
            <a:r>
              <a:rPr lang="en-IN" sz="2800" dirty="0"/>
              <a:t> – Detects fake content in both images and videos.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800" b="1" dirty="0"/>
              <a:t>Automated Analysis</a:t>
            </a:r>
            <a:r>
              <a:rPr lang="en-IN" sz="2800" dirty="0"/>
              <a:t> – Uses AI to automatically </a:t>
            </a:r>
            <a:r>
              <a:rPr lang="en-IN" sz="2800" dirty="0" err="1"/>
              <a:t>analyze</a:t>
            </a:r>
            <a:r>
              <a:rPr lang="en-IN" sz="2800" dirty="0"/>
              <a:t> uploaded media.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800" b="1" dirty="0"/>
              <a:t>Fast Detection</a:t>
            </a:r>
            <a:r>
              <a:rPr lang="en-IN" sz="2800" dirty="0"/>
              <a:t> – Provides results quickly after media processing.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800" b="1" dirty="0"/>
              <a:t>Confidence Score</a:t>
            </a:r>
            <a:r>
              <a:rPr lang="en-IN" sz="2800" dirty="0"/>
              <a:t> – Shows the confidence level of the prediction.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800" b="1" dirty="0"/>
              <a:t>Video Frame Analysis</a:t>
            </a:r>
            <a:r>
              <a:rPr lang="en-IN" sz="2800" dirty="0"/>
              <a:t> – </a:t>
            </a:r>
            <a:r>
              <a:rPr lang="en-IN" sz="2800" dirty="0" err="1"/>
              <a:t>Analyzes</a:t>
            </a:r>
            <a:r>
              <a:rPr lang="en-IN" sz="2800" dirty="0"/>
              <a:t> selected video frames to identify potentially fake content.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800" b="1" dirty="0"/>
              <a:t>User-Friendly</a:t>
            </a:r>
            <a:r>
              <a:rPr lang="en-IN" sz="2800" dirty="0"/>
              <a:t> – Simple </a:t>
            </a:r>
            <a:r>
              <a:rPr lang="en-IN" sz="2800" dirty="0" err="1"/>
              <a:t>Streamlit</a:t>
            </a:r>
            <a:r>
              <a:rPr lang="en-IN" sz="2800" dirty="0"/>
              <a:t> interface makes the system easy to use.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800" b="1" dirty="0"/>
              <a:t>Helps Reduce Misinformation</a:t>
            </a:r>
            <a:r>
              <a:rPr lang="en-IN" sz="2800" dirty="0"/>
              <a:t> – Helps users identify suspicious digital content.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800" b="1" dirty="0"/>
              <a:t>Expandable</a:t>
            </a:r>
            <a:r>
              <a:rPr lang="en-IN" sz="2800" dirty="0"/>
              <a:t> – Can be improved with new datasets and advanced AI models.</a:t>
            </a:r>
          </a:p>
          <a:p>
            <a:pPr marL="457200" marR="0" lvl="0" indent="-4572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99484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FC516-E14F-AF93-2B73-283283F5E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93C0E1-562F-1365-8CD0-646C1F671483}"/>
              </a:ext>
            </a:extLst>
          </p:cNvPr>
          <p:cNvSpPr txBox="1"/>
          <p:nvPr/>
        </p:nvSpPr>
        <p:spPr>
          <a:xfrm>
            <a:off x="0" y="120645"/>
            <a:ext cx="1219199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tabLst>
                <a:tab pos="2633663" algn="l"/>
              </a:tabLst>
            </a:pPr>
            <a:r>
              <a:rPr lang="en-IN" sz="3200" b="1" dirty="0">
                <a:latin typeface="Cambria" panose="02040503050406030204" pitchFamily="18" charset="0"/>
                <a:ea typeface="Cambria" panose="02040503050406030204" pitchFamily="18" charset="0"/>
              </a:rPr>
              <a:t>12. APPLICATION</a:t>
            </a:r>
            <a:endParaRPr lang="en-US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6FEDA06-0CBF-4656-BEE5-D5D4254734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300" y="901217"/>
            <a:ext cx="11299371" cy="61247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>
              <a:buFont typeface="+mj-lt"/>
              <a:buAutoNum type="arabicPeriod"/>
            </a:pPr>
            <a:r>
              <a:rPr lang="en-IN" sz="2800" b="1" dirty="0"/>
              <a:t>Social Media</a:t>
            </a:r>
            <a:r>
              <a:rPr lang="en-IN" sz="2800" dirty="0"/>
              <a:t> – Helps identify fake and AI-generated content shared online.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800" b="1" dirty="0"/>
              <a:t>News &amp; Media</a:t>
            </a:r>
            <a:r>
              <a:rPr lang="en-IN" sz="2800" dirty="0"/>
              <a:t> – Helps journalists verify suspicious images and videos.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800" b="1" dirty="0"/>
              <a:t>Digital Forensics</a:t>
            </a:r>
            <a:r>
              <a:rPr lang="en-IN" sz="2800" dirty="0"/>
              <a:t> – Supports analysis of manipulated digital evidence.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800" b="1" dirty="0"/>
              <a:t>Cybersecurity</a:t>
            </a:r>
            <a:r>
              <a:rPr lang="en-IN" sz="2800" dirty="0"/>
              <a:t> – Helps detect fake media used for scams and impersonation.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800" b="1" dirty="0"/>
              <a:t>Education</a:t>
            </a:r>
            <a:r>
              <a:rPr lang="en-IN" sz="2800" dirty="0"/>
              <a:t> – Can be used to teach students about AI-generated content.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800" b="1" dirty="0"/>
              <a:t>Government Organizations</a:t>
            </a:r>
            <a:r>
              <a:rPr lang="en-IN" sz="2800" dirty="0"/>
              <a:t> – Helps identify potentially misleading digital content.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800" b="1" dirty="0"/>
              <a:t>Content Verification</a:t>
            </a:r>
            <a:r>
              <a:rPr lang="en-IN" sz="2800" dirty="0"/>
              <a:t> – Helps users check media before sharing or publishing.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800" b="1" dirty="0"/>
              <a:t>AI Research</a:t>
            </a:r>
            <a:r>
              <a:rPr lang="en-IN" sz="2800" dirty="0"/>
              <a:t> – Provides a base for further research in fake-media detection.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71602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B8F34-C537-8FC5-ACEE-63EF57F11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A1B278C-2B41-59B6-1305-AF7C50EA4B6D}"/>
              </a:ext>
            </a:extLst>
          </p:cNvPr>
          <p:cNvSpPr txBox="1"/>
          <p:nvPr/>
        </p:nvSpPr>
        <p:spPr>
          <a:xfrm>
            <a:off x="0" y="120645"/>
            <a:ext cx="1219199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tabLst>
                <a:tab pos="2633663" algn="l"/>
              </a:tabLst>
            </a:pPr>
            <a:r>
              <a:rPr lang="en-IN" sz="3200" b="1" dirty="0">
                <a:latin typeface="Cambria" panose="02040503050406030204" pitchFamily="18" charset="0"/>
                <a:ea typeface="Cambria" panose="02040503050406030204" pitchFamily="18" charset="0"/>
              </a:rPr>
              <a:t>13. FUTURE SCOPE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DB06811-5408-4BC1-845C-CE5961EEC0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990" y="705420"/>
            <a:ext cx="11374017" cy="65556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>
              <a:buFont typeface="+mj-lt"/>
              <a:buAutoNum type="arabicPeriod"/>
            </a:pPr>
            <a:r>
              <a:rPr lang="en-IN" sz="2800" b="1" dirty="0"/>
              <a:t>Audio Deepfake Detection</a:t>
            </a:r>
            <a:r>
              <a:rPr lang="en-IN" sz="2800" dirty="0"/>
              <a:t> – Detect AI-generated and manipulated voices.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800" b="1" dirty="0"/>
              <a:t>Real-Time Detection</a:t>
            </a:r>
            <a:r>
              <a:rPr lang="en-IN" sz="2800" dirty="0"/>
              <a:t> – </a:t>
            </a:r>
            <a:r>
              <a:rPr lang="en-IN" sz="2800" dirty="0" err="1"/>
              <a:t>Analyze</a:t>
            </a:r>
            <a:r>
              <a:rPr lang="en-IN" sz="2800" dirty="0"/>
              <a:t> fake media during live streams and video calls.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800" b="1" dirty="0"/>
              <a:t>Advanced AI Models</a:t>
            </a:r>
            <a:r>
              <a:rPr lang="en-IN" sz="2800" dirty="0"/>
              <a:t> – Use newer deep learning and transformer-based models.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800" b="1" dirty="0"/>
              <a:t>Better Accuracy</a:t>
            </a:r>
            <a:r>
              <a:rPr lang="en-IN" sz="2800" dirty="0"/>
              <a:t> – Train the system with larger and more diverse datasets.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800" b="1" dirty="0"/>
              <a:t>Explainable AI</a:t>
            </a:r>
            <a:r>
              <a:rPr lang="en-IN" sz="2800" dirty="0"/>
              <a:t> – Show the areas of an image that influenced the prediction.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800" b="1" dirty="0"/>
              <a:t>Mobile Application</a:t>
            </a:r>
            <a:r>
              <a:rPr lang="en-IN" sz="2800" dirty="0"/>
              <a:t> – Develop an Android/iOS app for easy media checking.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800" b="1" dirty="0"/>
              <a:t>Browser Extension</a:t>
            </a:r>
            <a:r>
              <a:rPr lang="en-IN" sz="2800" dirty="0"/>
              <a:t> – Detect suspicious media while browsing websites and social media.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800" b="1" dirty="0"/>
              <a:t>Cloud-Based System</a:t>
            </a:r>
            <a:r>
              <a:rPr lang="en-IN" sz="2800" dirty="0"/>
              <a:t> – Support large-scale media analysis and multiple users. 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87193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2129C-B7C3-827D-DC1F-2BBC073A7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C5191D3-DFD3-CF11-7C81-97CBAD4403B6}"/>
              </a:ext>
            </a:extLst>
          </p:cNvPr>
          <p:cNvSpPr txBox="1"/>
          <p:nvPr/>
        </p:nvSpPr>
        <p:spPr>
          <a:xfrm>
            <a:off x="0" y="120645"/>
            <a:ext cx="1219199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tabLst>
                <a:tab pos="2633663" algn="l"/>
              </a:tabLst>
            </a:pPr>
            <a:r>
              <a:rPr lang="en-IN" sz="3200" b="1" dirty="0">
                <a:latin typeface="Cambria" panose="02040503050406030204" pitchFamily="18" charset="0"/>
                <a:ea typeface="Cambria" panose="02040503050406030204" pitchFamily="18" charset="0"/>
              </a:rPr>
              <a:t>14. CONCLUSION</a:t>
            </a:r>
            <a:endParaRPr lang="en-US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A302406-A3B0-4589-ACBF-9161F5E283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2215" y="1043489"/>
            <a:ext cx="10627568" cy="5693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ü"/>
            </a:pPr>
            <a:r>
              <a:rPr lang="en-IN" sz="2800" b="1" dirty="0" err="1"/>
              <a:t>RealCheck</a:t>
            </a:r>
            <a:r>
              <a:rPr lang="en-IN" sz="2800" b="1" dirty="0"/>
              <a:t> AI</a:t>
            </a:r>
            <a:r>
              <a:rPr lang="en-IN" sz="2800" dirty="0"/>
              <a:t> is an AI-based system for detecting </a:t>
            </a:r>
            <a:r>
              <a:rPr lang="en-IN" sz="2800" b="1" dirty="0"/>
              <a:t>fake and AI-generated images and videos</a:t>
            </a:r>
            <a:r>
              <a:rPr lang="en-IN" sz="2800" dirty="0"/>
              <a:t>. </a:t>
            </a:r>
          </a:p>
          <a:p>
            <a:pPr marL="342900" lvl="0" indent="-342900">
              <a:buFont typeface="Wingdings" panose="05000000000000000000" pitchFamily="2" charset="2"/>
              <a:buChar char="ü"/>
            </a:pPr>
            <a:r>
              <a:rPr lang="en-IN" sz="2800" dirty="0"/>
              <a:t>It uses </a:t>
            </a:r>
            <a:r>
              <a:rPr lang="en-IN" sz="2800" b="1" dirty="0"/>
              <a:t>Deep Learning and Computer Vision</a:t>
            </a:r>
            <a:r>
              <a:rPr lang="en-IN" sz="2800" dirty="0"/>
              <a:t> techniques for media analysis. </a:t>
            </a:r>
          </a:p>
          <a:p>
            <a:pPr marL="342900" lvl="0" indent="-342900">
              <a:buFont typeface="Wingdings" panose="05000000000000000000" pitchFamily="2" charset="2"/>
              <a:buChar char="ü"/>
            </a:pPr>
            <a:r>
              <a:rPr lang="en-IN" sz="2800" dirty="0"/>
              <a:t>The system predicts whether the uploaded media is </a:t>
            </a:r>
            <a:r>
              <a:rPr lang="en-IN" sz="2800" b="1" dirty="0"/>
              <a:t>Real or AI-Generated/Fake</a:t>
            </a:r>
            <a:r>
              <a:rPr lang="en-IN" sz="2800" dirty="0"/>
              <a:t>. </a:t>
            </a:r>
          </a:p>
          <a:p>
            <a:pPr marL="342900" lvl="0" indent="-342900">
              <a:buFont typeface="Wingdings" panose="05000000000000000000" pitchFamily="2" charset="2"/>
              <a:buChar char="ü"/>
            </a:pPr>
            <a:r>
              <a:rPr lang="en-IN" sz="2800" dirty="0"/>
              <a:t>It provides a </a:t>
            </a:r>
            <a:r>
              <a:rPr lang="en-IN" sz="2800" b="1" dirty="0"/>
              <a:t>confidence score and basic analysis</a:t>
            </a:r>
            <a:r>
              <a:rPr lang="en-IN" sz="2800" dirty="0"/>
              <a:t> of the result. </a:t>
            </a:r>
          </a:p>
          <a:p>
            <a:pPr marL="342900" lvl="0" indent="-342900">
              <a:buFont typeface="Wingdings" panose="05000000000000000000" pitchFamily="2" charset="2"/>
              <a:buChar char="ü"/>
            </a:pPr>
            <a:r>
              <a:rPr lang="en-IN" sz="2800" dirty="0"/>
              <a:t>The system has a </a:t>
            </a:r>
            <a:r>
              <a:rPr lang="en-IN" sz="2800" b="1" dirty="0"/>
              <a:t>simple and user-friendly </a:t>
            </a:r>
            <a:r>
              <a:rPr lang="en-IN" sz="2800" b="1" dirty="0" err="1"/>
              <a:t>Streamlit</a:t>
            </a:r>
            <a:r>
              <a:rPr lang="en-IN" sz="2800" b="1" dirty="0"/>
              <a:t> interface</a:t>
            </a:r>
            <a:r>
              <a:rPr lang="en-IN" sz="2800" dirty="0"/>
              <a:t>. </a:t>
            </a:r>
          </a:p>
          <a:p>
            <a:pPr marL="342900" lvl="0" indent="-342900">
              <a:buFont typeface="Wingdings" panose="05000000000000000000" pitchFamily="2" charset="2"/>
              <a:buChar char="ü"/>
            </a:pPr>
            <a:r>
              <a:rPr lang="en-IN" sz="2800" dirty="0"/>
              <a:t>It can help users identify </a:t>
            </a:r>
            <a:r>
              <a:rPr lang="en-IN" sz="2800" b="1" dirty="0"/>
              <a:t>suspicious digital content and reduce misinformation</a:t>
            </a:r>
            <a:r>
              <a:rPr lang="en-IN" sz="2800" dirty="0"/>
              <a:t>. </a:t>
            </a:r>
          </a:p>
          <a:p>
            <a:pPr marL="342900" lvl="0" indent="-342900">
              <a:buFont typeface="Wingdings" panose="05000000000000000000" pitchFamily="2" charset="2"/>
              <a:buChar char="ü"/>
            </a:pPr>
            <a:r>
              <a:rPr lang="en-IN" sz="2800" dirty="0"/>
              <a:t>In the future, the system can be extended with </a:t>
            </a:r>
            <a:r>
              <a:rPr lang="en-IN" sz="2800" b="1" dirty="0"/>
              <a:t>audio detection, real-time analysis, and advanced AI models</a:t>
            </a:r>
            <a:r>
              <a:rPr lang="en-IN" sz="2800" dirty="0"/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74039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9AE0B-B68F-80EF-9E8D-EC9AB66BF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AADBA59-E374-F3A7-7971-01D289D7F3C9}"/>
              </a:ext>
            </a:extLst>
          </p:cNvPr>
          <p:cNvSpPr txBox="1"/>
          <p:nvPr/>
        </p:nvSpPr>
        <p:spPr>
          <a:xfrm>
            <a:off x="0" y="120645"/>
            <a:ext cx="1219199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tabLst>
                <a:tab pos="2633663" algn="l"/>
              </a:tabLst>
            </a:pPr>
            <a:r>
              <a:rPr lang="en-IN" sz="3200" b="1" dirty="0">
                <a:latin typeface="Cambria" panose="02040503050406030204" pitchFamily="18" charset="0"/>
                <a:ea typeface="Cambria" panose="02040503050406030204" pitchFamily="18" charset="0"/>
              </a:rPr>
              <a:t>15. REFERENCES</a:t>
            </a:r>
            <a:endParaRPr lang="en-US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0B53F70-240C-4027-82EB-0A60BF5579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810" y="1028585"/>
            <a:ext cx="11215398" cy="5232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>
              <a:buFont typeface="+mj-lt"/>
              <a:buAutoNum type="arabicPeriod"/>
            </a:pPr>
            <a:r>
              <a:rPr lang="en-IN" sz="2400" dirty="0"/>
              <a:t>Goodfellow, I., Bengio, Y., &amp; Courville, A. — </a:t>
            </a:r>
            <a:r>
              <a:rPr lang="en-IN" sz="2400" i="1" dirty="0"/>
              <a:t>Deep Learning</a:t>
            </a:r>
            <a:r>
              <a:rPr lang="en-IN" sz="2400" dirty="0"/>
              <a:t>, MIT Press, 2016.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 dirty="0"/>
              <a:t>Tan, M., &amp; Le, Q. V. — </a:t>
            </a:r>
            <a:r>
              <a:rPr lang="en-IN" sz="2400" i="1" dirty="0" err="1"/>
              <a:t>EfficientNet</a:t>
            </a:r>
            <a:r>
              <a:rPr lang="en-IN" sz="2400" i="1" dirty="0"/>
              <a:t>: Rethinking Model Scaling for Convolutional Neural Networks</a:t>
            </a:r>
            <a:r>
              <a:rPr lang="en-IN" sz="2400" dirty="0"/>
              <a:t>, ICML, 2019.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 dirty="0"/>
              <a:t>Rossler, A., et al. — </a:t>
            </a:r>
            <a:r>
              <a:rPr lang="en-IN" sz="2400" i="1" dirty="0" err="1"/>
              <a:t>FaceForensics</a:t>
            </a:r>
            <a:r>
              <a:rPr lang="en-IN" sz="2400" i="1" dirty="0"/>
              <a:t>++: Learning to Detect Manipulated Facial Images</a:t>
            </a:r>
            <a:r>
              <a:rPr lang="en-IN" sz="2400" dirty="0"/>
              <a:t>, ICCV, 2019.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 dirty="0"/>
              <a:t>Wang, S. Y., et al. — </a:t>
            </a:r>
            <a:r>
              <a:rPr lang="en-IN" sz="2400" i="1" dirty="0"/>
              <a:t>CNN-Generated Images Are Surprisingly Easy to Spot... for Now</a:t>
            </a:r>
            <a:r>
              <a:rPr lang="en-IN" sz="2400" dirty="0"/>
              <a:t>, CVPR, 2020.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 dirty="0" err="1"/>
              <a:t>Paszke</a:t>
            </a:r>
            <a:r>
              <a:rPr lang="en-IN" sz="2400" dirty="0"/>
              <a:t>, A., et al. — </a:t>
            </a:r>
            <a:r>
              <a:rPr lang="en-IN" sz="2400" i="1" dirty="0" err="1"/>
              <a:t>PyTorch</a:t>
            </a:r>
            <a:r>
              <a:rPr lang="en-IN" sz="2400" i="1" dirty="0"/>
              <a:t>: An Imperative Style, High-Performance Deep Learning Library</a:t>
            </a:r>
            <a:r>
              <a:rPr lang="en-IN" sz="2400" dirty="0"/>
              <a:t>, </a:t>
            </a:r>
            <a:r>
              <a:rPr lang="en-IN" sz="2400" dirty="0" err="1"/>
              <a:t>NeurIPS</a:t>
            </a:r>
            <a:r>
              <a:rPr lang="en-IN" sz="2400" dirty="0"/>
              <a:t>, 2019.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 dirty="0" err="1"/>
              <a:t>Bradski</a:t>
            </a:r>
            <a:r>
              <a:rPr lang="en-IN" sz="2400" dirty="0"/>
              <a:t>, G. — </a:t>
            </a:r>
            <a:r>
              <a:rPr lang="en-IN" sz="2400" i="1" dirty="0"/>
              <a:t>The OpenCV Library</a:t>
            </a:r>
            <a:r>
              <a:rPr lang="en-IN" sz="2400" dirty="0"/>
              <a:t>, Dr. Dobb's Journal, 2000.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 b="1" dirty="0" err="1"/>
              <a:t>Streamlit</a:t>
            </a:r>
            <a:r>
              <a:rPr lang="en-IN" sz="2400" b="1" dirty="0"/>
              <a:t> Documentation</a:t>
            </a:r>
            <a:r>
              <a:rPr lang="en-IN" sz="2400" dirty="0"/>
              <a:t> — Framework for building interactive Python-based web applications.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 b="1" dirty="0"/>
              <a:t>Kaggle</a:t>
            </a:r>
            <a:r>
              <a:rPr lang="en-IN" sz="2400" dirty="0"/>
              <a:t> — Datasets and resources for machine learning and computer vision.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40314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A0C18-ED89-3E6B-04B9-FB5818EA4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616FB98-D8FE-A3CB-A361-225700D47622}"/>
              </a:ext>
            </a:extLst>
          </p:cNvPr>
          <p:cNvSpPr txBox="1"/>
          <p:nvPr/>
        </p:nvSpPr>
        <p:spPr>
          <a:xfrm>
            <a:off x="0" y="120645"/>
            <a:ext cx="1219199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tabLst>
                <a:tab pos="2633663" algn="l"/>
              </a:tabLst>
            </a:pPr>
            <a:r>
              <a:rPr lang="en-IN" sz="3200" b="1" dirty="0">
                <a:latin typeface="Cambria" panose="02040503050406030204" pitchFamily="18" charset="0"/>
                <a:ea typeface="Cambria" panose="02040503050406030204" pitchFamily="18" charset="0"/>
              </a:rPr>
              <a:t>16. PAPER PUBLICATION</a:t>
            </a:r>
          </a:p>
        </p:txBody>
      </p:sp>
    </p:spTree>
    <p:extLst>
      <p:ext uri="{BB962C8B-B14F-4D97-AF65-F5344CB8AC3E}">
        <p14:creationId xmlns:p14="http://schemas.microsoft.com/office/powerpoint/2010/main" val="27630705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80BC0-852A-C459-374C-A6422BD11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2754BB2-7CA1-D05E-E934-F9ECE1CBEE67}"/>
              </a:ext>
            </a:extLst>
          </p:cNvPr>
          <p:cNvSpPr txBox="1"/>
          <p:nvPr/>
        </p:nvSpPr>
        <p:spPr>
          <a:xfrm>
            <a:off x="1" y="2401136"/>
            <a:ext cx="12191999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tabLst>
                <a:tab pos="2633663" algn="l"/>
              </a:tabLst>
            </a:pPr>
            <a:r>
              <a:rPr lang="en-IN" sz="8800" b="1" dirty="0">
                <a:latin typeface="Cambria" panose="02040503050406030204" pitchFamily="18" charset="0"/>
                <a:ea typeface="Cambria" panose="02040503050406030204" pitchFamily="18" charset="0"/>
              </a:rPr>
              <a:t>Thank You !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2353D5-4962-6EF5-B473-0F3074C648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-1075864"/>
            <a:ext cx="12192001" cy="900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6653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343</TotalTime>
  <Words>1164</Words>
  <Application>Microsoft Office PowerPoint</Application>
  <PresentationFormat>Widescreen</PresentationFormat>
  <Paragraphs>131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Light</vt:lpstr>
      <vt:lpstr>Cambria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7. METHODOLOGY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shivam dandekar;Nikhil surkar</dc:creator>
  <cp:lastModifiedBy>rakkeshdambhare13@gmail.com</cp:lastModifiedBy>
  <cp:revision>22</cp:revision>
  <dcterms:created xsi:type="dcterms:W3CDTF">2026-03-11T14:35:17Z</dcterms:created>
  <dcterms:modified xsi:type="dcterms:W3CDTF">2026-10-17T06:47:12Z</dcterms:modified>
</cp:coreProperties>
</file>